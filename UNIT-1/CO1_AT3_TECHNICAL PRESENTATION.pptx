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28"/>
  </p:notesMasterIdLst>
  <p:sldIdLst>
    <p:sldId id="256" r:id="rId2"/>
    <p:sldId id="260" r:id="rId3"/>
    <p:sldId id="257" r:id="rId4"/>
    <p:sldId id="258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80" r:id="rId23"/>
    <p:sldId id="281" r:id="rId24"/>
    <p:sldId id="282" r:id="rId25"/>
    <p:sldId id="283" r:id="rId26"/>
    <p:sldId id="279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5EC8F2-D9AC-4798-9347-8138E6910C28}" v="85" dt="2026-07-23T04:09:08.7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02" autoAdjust="0"/>
    <p:restoredTop sz="94660"/>
  </p:normalViewPr>
  <p:slideViewPr>
    <p:cSldViewPr snapToGrid="0">
      <p:cViewPr varScale="1">
        <p:scale>
          <a:sx n="57" d="100"/>
          <a:sy n="57" d="100"/>
        </p:scale>
        <p:origin x="105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42CAA7-D982-4AF4-A2A9-2F69304C9950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26FA7D-CE43-42CA-B7F9-8F1D7FD59D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5798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26FA7D-CE43-42CA-B7F9-8F1D7FD59D53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88784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3D0E9-94F0-4A84-9AF7-5D7B5FFC674C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2E772-9247-4841-AEF3-D71F311403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3551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3D0E9-94F0-4A84-9AF7-5D7B5FFC674C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2E772-9247-4841-AEF3-D71F311403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3706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3D0E9-94F0-4A84-9AF7-5D7B5FFC674C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2E772-9247-4841-AEF3-D71F311403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1100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3D0E9-94F0-4A84-9AF7-5D7B5FFC674C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2E772-9247-4841-AEF3-D71F311403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8125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3D0E9-94F0-4A84-9AF7-5D7B5FFC674C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2E772-9247-4841-AEF3-D71F311403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715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3D0E9-94F0-4A84-9AF7-5D7B5FFC674C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2E772-9247-4841-AEF3-D71F311403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5781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3D0E9-94F0-4A84-9AF7-5D7B5FFC674C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2E772-9247-4841-AEF3-D71F311403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4657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3D0E9-94F0-4A84-9AF7-5D7B5FFC674C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2E772-9247-4841-AEF3-D71F311403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2198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3D0E9-94F0-4A84-9AF7-5D7B5FFC674C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2E772-9247-4841-AEF3-D71F311403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9533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3D0E9-94F0-4A84-9AF7-5D7B5FFC674C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2E772-9247-4841-AEF3-D71F311403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898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3D0E9-94F0-4A84-9AF7-5D7B5FFC674C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2E772-9247-4841-AEF3-D71F311403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18316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8751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E3D0E9-94F0-4A84-9AF7-5D7B5FFC674C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2E772-9247-4841-AEF3-D71F311403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0105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A0C12-CDCD-C7EB-8229-86F1E22845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714062"/>
            <a:ext cx="9144000" cy="2387600"/>
          </a:xfrm>
        </p:spPr>
        <p:txBody>
          <a:bodyPr>
            <a:normAutofit/>
          </a:bodyPr>
          <a:lstStyle/>
          <a:p>
            <a:r>
              <a:rPr lang="en-US" sz="4000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CO1_AT3_TECHNICAL PRESENTATION</a:t>
            </a:r>
            <a:br>
              <a:rPr lang="en-US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 for an Online Library Management System</a:t>
            </a:r>
            <a:endParaRPr lang="en-IN" sz="4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828128-E1CD-4F93-DAE3-2EF9F19E1C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2965" y="4656380"/>
            <a:ext cx="6180083" cy="1358844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DARSHINIE KARANI.V.M</a:t>
            </a:r>
          </a:p>
          <a:p>
            <a:pPr algn="l"/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REG.NO: 192520033</a:t>
            </a:r>
          </a:p>
          <a:p>
            <a:pPr algn="l"/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COURSE: DATABASE MANAGEMENT SYSTEM</a:t>
            </a:r>
          </a:p>
          <a:p>
            <a:pPr algn="l"/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CSA0504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7CCC2A-E0C4-47EF-8CC4-34D013194F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2414" y="341192"/>
            <a:ext cx="9527171" cy="1054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887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23DE8-590E-A568-F7FC-7EE933341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opperplate Gothic Bold" panose="020E0705020206020404" pitchFamily="34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F6D07-D4B1-EDCC-6F20-62A88998A7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Online Library Management System is an app that lets members search for books, borrow them, reserve them, and return them — all online.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Behind the scenes, librarians use it to manage the book catalog and keep track of who borrowed what.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building any such system, we first need to design its database properly.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That's where an Entity-Relationship (ER) Diagram comes in — it's a simple visual map that shows the main things the system needs to track (like members and books), the details about each of them, and how they connect to one another.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presentation walks through that ER diagram — the entities involved, how they're related, and why the design was built this way.</a:t>
            </a:r>
          </a:p>
        </p:txBody>
      </p:sp>
    </p:spTree>
    <p:extLst>
      <p:ext uri="{BB962C8B-B14F-4D97-AF65-F5344CB8AC3E}">
        <p14:creationId xmlns:p14="http://schemas.microsoft.com/office/powerpoint/2010/main" val="435558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E3CCD-4C2F-9D07-8E57-DADDC57BB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Entities overview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4B1FB3D-7C86-34FF-BE82-5801C80CB2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9095149"/>
              </p:ext>
            </p:extLst>
          </p:nvPr>
        </p:nvGraphicFramePr>
        <p:xfrm>
          <a:off x="4678606" y="961812"/>
          <a:ext cx="5908188" cy="493099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315450">
                  <a:extLst>
                    <a:ext uri="{9D8B030D-6E8A-4147-A177-3AD203B41FA5}">
                      <a16:colId xmlns:a16="http://schemas.microsoft.com/office/drawing/2014/main" val="2777978859"/>
                    </a:ext>
                  </a:extLst>
                </a:gridCol>
                <a:gridCol w="2377900">
                  <a:extLst>
                    <a:ext uri="{9D8B030D-6E8A-4147-A177-3AD203B41FA5}">
                      <a16:colId xmlns:a16="http://schemas.microsoft.com/office/drawing/2014/main" val="2532717135"/>
                    </a:ext>
                  </a:extLst>
                </a:gridCol>
                <a:gridCol w="2214838">
                  <a:extLst>
                    <a:ext uri="{9D8B030D-6E8A-4147-A177-3AD203B41FA5}">
                      <a16:colId xmlns:a16="http://schemas.microsoft.com/office/drawing/2014/main" val="3029903576"/>
                    </a:ext>
                  </a:extLst>
                </a:gridCol>
              </a:tblGrid>
              <a:tr h="4451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Entity</a:t>
                      </a:r>
                    </a:p>
                  </a:txBody>
                  <a:tcPr marL="183444" marR="110067" marT="110067" marB="110067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What it represents</a:t>
                      </a:r>
                    </a:p>
                  </a:txBody>
                  <a:tcPr marL="183444" marR="110067" marT="110067" marB="110067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Key attributes</a:t>
                      </a:r>
                    </a:p>
                  </a:txBody>
                  <a:tcPr marL="183444" marR="110067" marT="110067" marB="110067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9183522"/>
                  </a:ext>
                </a:extLst>
              </a:tr>
              <a:tr h="640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MEMBER</a:t>
                      </a:r>
                    </a:p>
                  </a:txBody>
                  <a:tcPr marL="183444" marR="110067" marT="110067" marB="110067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 registered library user</a:t>
                      </a:r>
                    </a:p>
                  </a:txBody>
                  <a:tcPr marL="183444" marR="110067" marT="110067" marB="110067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member_id (PK), name, email, phone, join_date</a:t>
                      </a:r>
                    </a:p>
                  </a:txBody>
                  <a:tcPr marL="183444" marR="110067" marT="110067" marB="110067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2596830"/>
                  </a:ext>
                </a:extLst>
              </a:tr>
              <a:tr h="640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BOOK</a:t>
                      </a:r>
                    </a:p>
                  </a:txBody>
                  <a:tcPr marL="183444" marR="110067" marT="110067" marB="110067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 catalog title</a:t>
                      </a:r>
                    </a:p>
                  </a:txBody>
                  <a:tcPr marL="183444" marR="110067" marT="110067" marB="110067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book_id (PK), title, isbn, copies_available</a:t>
                      </a:r>
                    </a:p>
                  </a:txBody>
                  <a:tcPr marL="183444" marR="110067" marT="110067" marB="110067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036885"/>
                  </a:ext>
                </a:extLst>
              </a:tr>
              <a:tr h="640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AUTHOR</a:t>
                      </a:r>
                    </a:p>
                  </a:txBody>
                  <a:tcPr marL="183444" marR="110067" marT="110067" marB="110067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Writer of a book</a:t>
                      </a:r>
                    </a:p>
                  </a:txBody>
                  <a:tcPr marL="183444" marR="110067" marT="110067" marB="110067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author_id</a:t>
                      </a:r>
                      <a:r>
                        <a:rPr lang="en-US" sz="13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 (PK), name, nationality</a:t>
                      </a:r>
                    </a:p>
                  </a:txBody>
                  <a:tcPr marL="183444" marR="110067" marT="110067" marB="110067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871219"/>
                  </a:ext>
                </a:extLst>
              </a:tr>
              <a:tr h="640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CATEGORY</a:t>
                      </a:r>
                    </a:p>
                  </a:txBody>
                  <a:tcPr marL="183444" marR="110067" marT="110067" marB="110067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Genre/subject classification</a:t>
                      </a:r>
                    </a:p>
                  </a:txBody>
                  <a:tcPr marL="183444" marR="110067" marT="110067" marB="110067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category_id</a:t>
                      </a:r>
                      <a:r>
                        <a:rPr lang="en-US" sz="13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 (PK), </a:t>
                      </a:r>
                      <a:r>
                        <a:rPr lang="en-US" sz="13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category_name</a:t>
                      </a:r>
                      <a:endParaRPr lang="en-US" sz="13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83444" marR="110067" marT="110067" marB="110067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8501435"/>
                  </a:ext>
                </a:extLst>
              </a:tr>
              <a:tr h="640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PUBLISHER</a:t>
                      </a:r>
                    </a:p>
                  </a:txBody>
                  <a:tcPr marL="183444" marR="110067" marT="110067" marB="110067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Publishing house</a:t>
                      </a:r>
                    </a:p>
                  </a:txBody>
                  <a:tcPr marL="183444" marR="110067" marT="110067" marB="110067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publisher_id (PK), name, address</a:t>
                      </a:r>
                    </a:p>
                  </a:txBody>
                  <a:tcPr marL="183444" marR="110067" marT="110067" marB="110067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8304543"/>
                  </a:ext>
                </a:extLst>
              </a:tr>
              <a:tr h="640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STAFF</a:t>
                      </a:r>
                    </a:p>
                  </a:txBody>
                  <a:tcPr marL="183444" marR="110067" marT="110067" marB="110067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Librarian handling transactions</a:t>
                      </a:r>
                    </a:p>
                  </a:txBody>
                  <a:tcPr marL="183444" marR="110067" marT="110067" marB="110067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staff_id (PK), name, role</a:t>
                      </a:r>
                    </a:p>
                  </a:txBody>
                  <a:tcPr marL="183444" marR="110067" marT="110067" marB="110067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7786141"/>
                  </a:ext>
                </a:extLst>
              </a:tr>
              <a:tr h="640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LOAN</a:t>
                      </a:r>
                    </a:p>
                  </a:txBody>
                  <a:tcPr marL="183444" marR="110067" marT="110067" marB="110067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 borrowing transaction</a:t>
                      </a:r>
                    </a:p>
                  </a:txBody>
                  <a:tcPr marL="183444" marR="110067" marT="110067" marB="110067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loan_id</a:t>
                      </a:r>
                      <a:r>
                        <a:rPr lang="en-US" sz="13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 (PK), </a:t>
                      </a:r>
                      <a:r>
                        <a:rPr lang="en-US" sz="13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issue_date</a:t>
                      </a:r>
                      <a:r>
                        <a:rPr lang="en-US" sz="13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, </a:t>
                      </a:r>
                      <a:r>
                        <a:rPr lang="en-US" sz="13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due_date</a:t>
                      </a:r>
                      <a:r>
                        <a:rPr lang="en-US" sz="13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, </a:t>
                      </a:r>
                      <a:r>
                        <a:rPr lang="en-US" sz="13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return_date</a:t>
                      </a:r>
                      <a:endParaRPr lang="en-US" sz="13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83444" marR="110067" marT="110067" marB="110067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5398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9515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C21DC-EE35-0621-7454-EBC744DF0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opperplate Gothic Bold" panose="020E0705020206020404" pitchFamily="34" charset="0"/>
              </a:rPr>
              <a:t>Relationships &amp; Cardinality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D1ED8-0422-2DDC-FA64-03C4F543B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relationship describes how two entities interact. Cardinality defines how many instances of one entity can connect to how many instances of another.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58EB8D-16ED-3EAD-F28F-8E574F0B119C}"/>
              </a:ext>
            </a:extLst>
          </p:cNvPr>
          <p:cNvSpPr/>
          <p:nvPr/>
        </p:nvSpPr>
        <p:spPr>
          <a:xfrm>
            <a:off x="252461" y="3581700"/>
            <a:ext cx="2281187" cy="8470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A6582DB2-BD2C-FB82-86DA-F882524FA00D}"/>
              </a:ext>
            </a:extLst>
          </p:cNvPr>
          <p:cNvSpPr/>
          <p:nvPr/>
        </p:nvSpPr>
        <p:spPr>
          <a:xfrm>
            <a:off x="2650557" y="3355401"/>
            <a:ext cx="1790299" cy="1316664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2B1C5D-8B63-4D7A-9982-533FCFC825E8}"/>
              </a:ext>
            </a:extLst>
          </p:cNvPr>
          <p:cNvSpPr txBox="1"/>
          <p:nvPr/>
        </p:nvSpPr>
        <p:spPr>
          <a:xfrm>
            <a:off x="778444" y="3829068"/>
            <a:ext cx="1617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MEMBER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413D46-C6DB-2A5B-42C8-B2B96B4055CA}"/>
              </a:ext>
            </a:extLst>
          </p:cNvPr>
          <p:cNvSpPr txBox="1"/>
          <p:nvPr/>
        </p:nvSpPr>
        <p:spPr>
          <a:xfrm>
            <a:off x="2955151" y="3829068"/>
            <a:ext cx="1280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BORROWS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0FF735-9C9B-4DDE-C58D-D8E7FD8E84EC}"/>
              </a:ext>
            </a:extLst>
          </p:cNvPr>
          <p:cNvSpPr txBox="1"/>
          <p:nvPr/>
        </p:nvSpPr>
        <p:spPr>
          <a:xfrm>
            <a:off x="7837771" y="3829068"/>
            <a:ext cx="1703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BOOK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929637-AA0C-FD11-4FCA-49D3280C3F42}"/>
              </a:ext>
            </a:extLst>
          </p:cNvPr>
          <p:cNvSpPr/>
          <p:nvPr/>
        </p:nvSpPr>
        <p:spPr>
          <a:xfrm>
            <a:off x="4789169" y="3577782"/>
            <a:ext cx="2281187" cy="8470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84ED08-22B1-2FF4-9DBB-EF0D5E50467B}"/>
              </a:ext>
            </a:extLst>
          </p:cNvPr>
          <p:cNvSpPr txBox="1"/>
          <p:nvPr/>
        </p:nvSpPr>
        <p:spPr>
          <a:xfrm>
            <a:off x="5494220" y="3824806"/>
            <a:ext cx="1886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BOOK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40D32D9-F320-D6BA-1F14-5BC4A1A2C12B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2533648" y="4005212"/>
            <a:ext cx="116909" cy="852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840356C-EEB0-41BA-2FCC-9BB8A92A64FF}"/>
              </a:ext>
            </a:extLst>
          </p:cNvPr>
          <p:cNvCxnSpPr>
            <a:cxnSpLocks/>
            <a:stCxn id="5" idx="3"/>
            <a:endCxn id="10" idx="1"/>
          </p:cNvCxnSpPr>
          <p:nvPr/>
        </p:nvCxnSpPr>
        <p:spPr>
          <a:xfrm flipV="1">
            <a:off x="4440856" y="4001294"/>
            <a:ext cx="348313" cy="124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5644891-1A9A-CB5B-5BCD-AEE0B50752C9}"/>
              </a:ext>
            </a:extLst>
          </p:cNvPr>
          <p:cNvSpPr txBox="1"/>
          <p:nvPr/>
        </p:nvSpPr>
        <p:spPr>
          <a:xfrm>
            <a:off x="1586966" y="5239848"/>
            <a:ext cx="2450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/>
              <a:t>Relationship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EE77B2A-61A8-96E5-B9B1-599A32C3CE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80" t="4265" r="2718" b="3710"/>
          <a:stretch>
            <a:fillRect/>
          </a:stretch>
        </p:blipFill>
        <p:spPr>
          <a:xfrm>
            <a:off x="7837771" y="2670010"/>
            <a:ext cx="3401535" cy="3259153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05072E78-F0B7-58EC-EBDD-A5FBF978B8C0}"/>
              </a:ext>
            </a:extLst>
          </p:cNvPr>
          <p:cNvSpPr txBox="1"/>
          <p:nvPr/>
        </p:nvSpPr>
        <p:spPr>
          <a:xfrm>
            <a:off x="9153625" y="6130712"/>
            <a:ext cx="2903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/>
              <a:t>Cardinality</a:t>
            </a:r>
          </a:p>
        </p:txBody>
      </p:sp>
    </p:spTree>
    <p:extLst>
      <p:ext uri="{BB962C8B-B14F-4D97-AF65-F5344CB8AC3E}">
        <p14:creationId xmlns:p14="http://schemas.microsoft.com/office/powerpoint/2010/main" val="3469078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0E43E-EE05-B125-D0C4-56177CEDF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38266"/>
            <a:ext cx="9738257" cy="1107126"/>
          </a:xfrm>
        </p:spPr>
        <p:txBody>
          <a:bodyPr anchor="t"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Relationships Between Entities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3309E15-6B7A-5829-0EA1-4498CAA4A6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9849785"/>
              </p:ext>
            </p:extLst>
          </p:nvPr>
        </p:nvGraphicFramePr>
        <p:xfrm>
          <a:off x="1253976" y="2536612"/>
          <a:ext cx="9684049" cy="3389372"/>
        </p:xfrm>
        <a:graphic>
          <a:graphicData uri="http://schemas.openxmlformats.org/drawingml/2006/table">
            <a:tbl>
              <a:tblPr/>
              <a:tblGrid>
                <a:gridCol w="5311884">
                  <a:extLst>
                    <a:ext uri="{9D8B030D-6E8A-4147-A177-3AD203B41FA5}">
                      <a16:colId xmlns:a16="http://schemas.microsoft.com/office/drawing/2014/main" val="1346602893"/>
                    </a:ext>
                  </a:extLst>
                </a:gridCol>
                <a:gridCol w="4372165">
                  <a:extLst>
                    <a:ext uri="{9D8B030D-6E8A-4147-A177-3AD203B41FA5}">
                      <a16:colId xmlns:a16="http://schemas.microsoft.com/office/drawing/2014/main" val="1421665536"/>
                    </a:ext>
                  </a:extLst>
                </a:gridCol>
              </a:tblGrid>
              <a:tr h="48419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200" b="0" i="0" u="none" strike="noStrike">
                          <a:effectLst/>
                          <a:latin typeface="Arial" panose="020B0604020202020204" pitchFamily="34" charset="0"/>
                        </a:rPr>
                        <a:t>Relationship</a:t>
                      </a:r>
                    </a:p>
                  </a:txBody>
                  <a:tcPr marL="110044" marR="110044" marT="55022" marB="550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200" b="0" i="0" u="none" strike="noStrike">
                          <a:effectLst/>
                          <a:latin typeface="Arial" panose="020B0604020202020204" pitchFamily="34" charset="0"/>
                        </a:rPr>
                        <a:t>Cardinality</a:t>
                      </a:r>
                    </a:p>
                  </a:txBody>
                  <a:tcPr marL="110044" marR="110044" marT="55022" marB="550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9004557"/>
                  </a:ext>
                </a:extLst>
              </a:tr>
              <a:tr h="48419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200" b="0" i="0" u="none" strike="noStrike">
                          <a:effectLst/>
                          <a:latin typeface="Arial" panose="020B0604020202020204" pitchFamily="34" charset="0"/>
                        </a:rPr>
                        <a:t>Member → Borrow</a:t>
                      </a:r>
                    </a:p>
                  </a:txBody>
                  <a:tcPr marL="110044" marR="110044" marT="55022" marB="550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200" b="0" i="0" u="none" strike="noStrike" dirty="0">
                          <a:effectLst/>
                          <a:latin typeface="Arial" panose="020B0604020202020204" pitchFamily="34" charset="0"/>
                        </a:rPr>
                        <a:t>One-to-Many</a:t>
                      </a:r>
                    </a:p>
                  </a:txBody>
                  <a:tcPr marL="110044" marR="110044" marT="55022" marB="550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123548"/>
                  </a:ext>
                </a:extLst>
              </a:tr>
              <a:tr h="48419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200" b="0" i="0" u="none" strike="noStrike">
                          <a:effectLst/>
                          <a:latin typeface="Arial" panose="020B0604020202020204" pitchFamily="34" charset="0"/>
                        </a:rPr>
                        <a:t>Book → Borrow</a:t>
                      </a:r>
                    </a:p>
                  </a:txBody>
                  <a:tcPr marL="110044" marR="110044" marT="55022" marB="550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200" b="0" i="0" u="none" strike="noStrike" dirty="0">
                          <a:effectLst/>
                          <a:latin typeface="Arial" panose="020B0604020202020204" pitchFamily="34" charset="0"/>
                        </a:rPr>
                        <a:t>One-to-Many </a:t>
                      </a:r>
                    </a:p>
                  </a:txBody>
                  <a:tcPr marL="110044" marR="110044" marT="55022" marB="550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0189381"/>
                  </a:ext>
                </a:extLst>
              </a:tr>
              <a:tr h="48419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200" b="0" i="0" u="none" strike="noStrike">
                          <a:effectLst/>
                          <a:latin typeface="Arial" panose="020B0604020202020204" pitchFamily="34" charset="0"/>
                        </a:rPr>
                        <a:t>Author → Book</a:t>
                      </a:r>
                    </a:p>
                  </a:txBody>
                  <a:tcPr marL="110044" marR="110044" marT="55022" marB="550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200" b="0" i="0" u="none" strike="noStrike" dirty="0">
                          <a:effectLst/>
                          <a:latin typeface="Arial" panose="020B0604020202020204" pitchFamily="34" charset="0"/>
                        </a:rPr>
                        <a:t>One-to-Many</a:t>
                      </a:r>
                    </a:p>
                  </a:txBody>
                  <a:tcPr marL="110044" marR="110044" marT="55022" marB="550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7471040"/>
                  </a:ext>
                </a:extLst>
              </a:tr>
              <a:tr h="48419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200" b="0" i="0" u="none" strike="noStrike">
                          <a:effectLst/>
                          <a:latin typeface="Arial" panose="020B0604020202020204" pitchFamily="34" charset="0"/>
                        </a:rPr>
                        <a:t>Publisher → Book</a:t>
                      </a:r>
                    </a:p>
                  </a:txBody>
                  <a:tcPr marL="110044" marR="110044" marT="55022" marB="550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200" b="0" i="0" u="none" strike="noStrike" dirty="0">
                          <a:effectLst/>
                          <a:latin typeface="Arial" panose="020B0604020202020204" pitchFamily="34" charset="0"/>
                        </a:rPr>
                        <a:t>One-to-Many</a:t>
                      </a:r>
                    </a:p>
                  </a:txBody>
                  <a:tcPr marL="110044" marR="110044" marT="55022" marB="550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2745112"/>
                  </a:ext>
                </a:extLst>
              </a:tr>
              <a:tr h="48419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200" b="0" i="0" u="none" strike="noStrike">
                          <a:effectLst/>
                          <a:latin typeface="Arial" panose="020B0604020202020204" pitchFamily="34" charset="0"/>
                        </a:rPr>
                        <a:t>Member → Reservation</a:t>
                      </a:r>
                    </a:p>
                  </a:txBody>
                  <a:tcPr marL="110044" marR="110044" marT="55022" marB="550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200" b="0" i="0" u="none" strike="noStrike" dirty="0">
                          <a:effectLst/>
                          <a:latin typeface="Arial" panose="020B0604020202020204" pitchFamily="34" charset="0"/>
                        </a:rPr>
                        <a:t>One-to-Many</a:t>
                      </a:r>
                    </a:p>
                  </a:txBody>
                  <a:tcPr marL="110044" marR="110044" marT="55022" marB="550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1720"/>
                  </a:ext>
                </a:extLst>
              </a:tr>
              <a:tr h="48419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200" b="0" i="0" u="none" strike="noStrike">
                          <a:effectLst/>
                          <a:latin typeface="Arial" panose="020B0604020202020204" pitchFamily="34" charset="0"/>
                        </a:rPr>
                        <a:t>Book → Reservation</a:t>
                      </a:r>
                    </a:p>
                  </a:txBody>
                  <a:tcPr marL="110044" marR="110044" marT="55022" marB="550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200" b="0" i="0" u="none" strike="noStrike" dirty="0">
                          <a:effectLst/>
                          <a:latin typeface="Arial" panose="020B0604020202020204" pitchFamily="34" charset="0"/>
                        </a:rPr>
                        <a:t>One-to-Many</a:t>
                      </a:r>
                    </a:p>
                  </a:txBody>
                  <a:tcPr marL="110044" marR="110044" marT="55022" marB="550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18845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15651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015465" y="2155578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The Enhanced Entity Relationship (EER) Model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2902017" y="352717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 &amp; Specialization — A University Case Study</a:t>
            </a:r>
            <a:endParaRPr lang="en-US" sz="19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7D21BA1-344E-CB89-EABB-DCAAF441F0DA}"/>
              </a:ext>
            </a:extLst>
          </p:cNvPr>
          <p:cNvSpPr txBox="1"/>
          <p:nvPr/>
        </p:nvSpPr>
        <p:spPr>
          <a:xfrm>
            <a:off x="640080" y="4356876"/>
            <a:ext cx="57241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DARSHINIE KARANI.V.M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REG,.NO: 192520033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COURSE: DATABASE MANAGEMENT SYSTEM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CSA0504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3424285-EAB0-20FF-8144-99AD97EC6D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214" y="509485"/>
            <a:ext cx="9527171" cy="10543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1F6F8"/>
          </a:solidFill>
          <a:ln/>
          <a:effectLst>
            <a:outerShdw blurRad="63500" dist="25400" dir="5400000" algn="bl" rotWithShape="0">
              <a:srgbClr val="1B27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77240" y="1636776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77240" y="16367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563624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ER to EER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1947672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classic ER model needed richer semantics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55080" y="141732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1F6F8"/>
          </a:solidFill>
          <a:ln/>
          <a:effectLst>
            <a:outerShdw blurRad="63500" dist="25400" dir="5400000" algn="bl" rotWithShape="0">
              <a:srgbClr val="1B27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583680" y="1636776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583680" y="16367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69480" y="1563624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Specialization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69480" y="1947672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top-down process of refining an entity type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1F6F8"/>
          </a:solidFill>
          <a:ln/>
          <a:effectLst>
            <a:outerShdw blurRad="63500" dist="25400" dir="5400000" algn="bl" rotWithShape="0">
              <a:srgbClr val="1B27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77240" y="3145536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77240" y="3145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3072384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Generalization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3456432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bottom-up process of abstracting a superclass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55080" y="292608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1F6F8"/>
          </a:solidFill>
          <a:ln/>
          <a:effectLst>
            <a:outerShdw blurRad="63500" dist="25400" dir="5400000" algn="bl" rotWithShape="0">
              <a:srgbClr val="1B27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583680" y="3145536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583680" y="3145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269480" y="3072384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Constraints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69480" y="3456432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Disjoint vs. overlapping, total vs. partial participation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43484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1F6F8"/>
          </a:solidFill>
          <a:ln/>
          <a:effectLst>
            <a:outerShdw blurRad="63500" dist="25400" dir="5400000" algn="bl" rotWithShape="0">
              <a:srgbClr val="1B27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777240" y="4654296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77240" y="46542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63040" y="4581144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University Case Study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463040" y="4965192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Person, Student, Employee, Faculty &amp; more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355080" y="443484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1F6F8"/>
          </a:solidFill>
          <a:ln/>
          <a:effectLst>
            <a:outerShdw blurRad="63500" dist="25400" dir="5400000" algn="bl" rotWithShape="0">
              <a:srgbClr val="1B27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583680" y="4654296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583680" y="46542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269480" y="4581144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269480" y="4965192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of EER modeling for real systems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ER to EER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 Entity-Relationship (ER) model captures entities, attributes, and relationships — but it cannot express real-world hierarchies, like the fact that a </a:t>
            </a: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an </a:t>
            </a: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both special kinds of </a:t>
            </a: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Enhanced ER (EER) model adds the semantic tools needed to model these hierarchies: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5486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Superclass / Subclass relationships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Specialization &amp; Generalization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and relationship inheritance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Constraints: disjoint/overlapping, total/partial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(union) types &amp; aggregation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955280" y="1554480"/>
            <a:ext cx="1920240" cy="384048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955280" y="1554480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955280" y="1847088"/>
            <a:ext cx="1920240" cy="914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955280" y="15544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Superclass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915400" y="1892808"/>
            <a:ext cx="0" cy="1216152"/>
          </a:xfrm>
          <a:prstGeom prst="line">
            <a:avLst/>
          </a:prstGeom>
          <a:noFill/>
          <a:ln w="22225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68680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 flipH="1">
            <a:off x="7452360" y="3108960"/>
            <a:ext cx="1463040" cy="228600"/>
          </a:xfrm>
          <a:prstGeom prst="line">
            <a:avLst/>
          </a:prstGeom>
          <a:noFill/>
          <a:ln w="22225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915400" y="3108960"/>
            <a:ext cx="1463040" cy="228600"/>
          </a:xfrm>
          <a:prstGeom prst="line">
            <a:avLst/>
          </a:prstGeom>
          <a:noFill/>
          <a:ln w="22225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903720" y="3337560"/>
            <a:ext cx="1645920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903720" y="3630168"/>
            <a:ext cx="1645920" cy="914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903720" y="33375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Subclass A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555480" y="3337560"/>
            <a:ext cx="1645920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9555480" y="3630168"/>
            <a:ext cx="1645920" cy="914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9555480" y="33375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Subclass B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132320" y="43434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Superclass / subclass hierarchy — the core EER building block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Specialization — Top-Down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Specialization is the process of defining a set of </a:t>
            </a: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subclasses</a:t>
            </a: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an entity type, based on distinguishing characteristics that some members have but others don't.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with one general entity type (the superclass)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meaningful subgroups within it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subgroup becomes a subclass with its own extra attributes and relationships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"what more specific kinds does this entity have?"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321040" y="1417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top-down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406640" y="1783080"/>
            <a:ext cx="2103120" cy="384048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406640" y="1783080"/>
            <a:ext cx="2103120" cy="384048"/>
          </a:xfrm>
          <a:prstGeom prst="roundRect">
            <a:avLst>
              <a:gd name="adj" fmla="val 14286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406640" y="2075688"/>
            <a:ext cx="2103120" cy="914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406640" y="17830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Vehicle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458200" y="2075688"/>
            <a:ext cx="0" cy="896112"/>
          </a:xfrm>
          <a:prstGeom prst="line">
            <a:avLst/>
          </a:prstGeom>
          <a:noFill/>
          <a:ln w="22225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 flipH="1">
            <a:off x="7086600" y="2971800"/>
            <a:ext cx="1371600" cy="228600"/>
          </a:xfrm>
          <a:prstGeom prst="line">
            <a:avLst/>
          </a:prstGeom>
          <a:noFill/>
          <a:ln w="22225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458200" y="2971800"/>
            <a:ext cx="1371600" cy="228600"/>
          </a:xfrm>
          <a:prstGeom prst="line">
            <a:avLst/>
          </a:prstGeom>
          <a:noFill/>
          <a:ln w="22225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400800" y="3200400"/>
            <a:ext cx="1554480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400800" y="3200400"/>
            <a:ext cx="1554480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400800" y="3493008"/>
            <a:ext cx="1554480" cy="914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400800" y="32004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961120" y="3200400"/>
            <a:ext cx="1737360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8961120" y="3200400"/>
            <a:ext cx="1737360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8961120" y="3493008"/>
            <a:ext cx="1737360" cy="914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8961120" y="32004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Motorcycle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49440" y="41605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Vehicle superclass is refined into more specific subclasses.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Generalization — Bottom-Up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 is the reverse process: combining several entity types that share common attributes into a single, more general </a:t>
            </a: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superclass</a:t>
            </a: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with two or more existing entity types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Notices shared attributes or relationships between them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 the shared features out into a new superclass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"what do these entities have in common?"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0" y="1783080"/>
            <a:ext cx="1554480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400800" y="2075688"/>
            <a:ext cx="1554480" cy="914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00800" y="17830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961120" y="1783080"/>
            <a:ext cx="1737360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8961120" y="2075688"/>
            <a:ext cx="1737360" cy="914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961120" y="17830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Truck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086600" y="2697480"/>
            <a:ext cx="1371600" cy="228600"/>
          </a:xfrm>
          <a:prstGeom prst="line">
            <a:avLst/>
          </a:prstGeom>
          <a:noFill/>
          <a:ln w="22225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 flipH="1">
            <a:off x="8458200" y="2697480"/>
            <a:ext cx="1371600" cy="228600"/>
          </a:xfrm>
          <a:prstGeom prst="line">
            <a:avLst/>
          </a:prstGeom>
          <a:noFill/>
          <a:ln w="22225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077456" y="2167128"/>
            <a:ext cx="0" cy="530352"/>
          </a:xfrm>
          <a:prstGeom prst="line">
            <a:avLst/>
          </a:prstGeom>
          <a:noFill/>
          <a:ln w="22225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9829800" y="2075688"/>
            <a:ext cx="0" cy="621792"/>
          </a:xfrm>
          <a:prstGeom prst="line">
            <a:avLst/>
          </a:prstGeom>
          <a:noFill/>
          <a:ln w="22225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458200" y="2926080"/>
            <a:ext cx="0" cy="228600"/>
          </a:xfrm>
          <a:prstGeom prst="line">
            <a:avLst/>
          </a:prstGeom>
          <a:noFill/>
          <a:ln w="22225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7406640" y="3154680"/>
            <a:ext cx="2103120" cy="384048"/>
          </a:xfrm>
          <a:prstGeom prst="roundRect">
            <a:avLst>
              <a:gd name="adj" fmla="val 14286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406640" y="3447288"/>
            <a:ext cx="2103120" cy="914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406640" y="31546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Vehicle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321040" y="38862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bottom-up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49440" y="43434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attributes of Car and Truck are abstracted into Vehicle.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Modeling a University Database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492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university tracks many kinds of people. All of them share core identity data — but Students and Employees each need very different attributes. This is a textbook case for EER specialization.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73768" y="2492944"/>
            <a:ext cx="4846320" cy="1234440"/>
          </a:xfrm>
          <a:prstGeom prst="roundRect">
            <a:avLst>
              <a:gd name="adj" fmla="val 5926"/>
            </a:avLst>
          </a:prstGeom>
          <a:solidFill>
            <a:srgbClr val="F1F6F8"/>
          </a:solidFill>
          <a:ln/>
          <a:effectLst>
            <a:outerShdw blurRad="63500" dist="25400" dir="5400000" algn="bl" rotWithShape="0">
              <a:srgbClr val="1B27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62000" y="2812984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9" name="Text 7"/>
          <p:cNvSpPr/>
          <p:nvPr/>
        </p:nvSpPr>
        <p:spPr>
          <a:xfrm>
            <a:off x="751170" y="28129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00200" y="261181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Superclass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00200" y="2995864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5633" y="3929515"/>
            <a:ext cx="4846320" cy="1234440"/>
          </a:xfrm>
          <a:prstGeom prst="roundRect">
            <a:avLst>
              <a:gd name="adj" fmla="val 5926"/>
            </a:avLst>
          </a:prstGeom>
          <a:solidFill>
            <a:srgbClr val="F1F6F8"/>
          </a:solidFill>
          <a:ln/>
          <a:effectLst>
            <a:outerShdw blurRad="63500" dist="25400" dir="5400000" algn="bl" rotWithShape="0">
              <a:srgbClr val="1B27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854233" y="4295275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54233" y="429527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40033" y="4094107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Specializations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540033" y="4478155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· Employee · Faculty · Staff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5633" y="5346835"/>
            <a:ext cx="4846320" cy="1234440"/>
          </a:xfrm>
          <a:prstGeom prst="roundRect">
            <a:avLst>
              <a:gd name="adj" fmla="val 5926"/>
            </a:avLst>
          </a:prstGeom>
          <a:solidFill>
            <a:srgbClr val="F1F6F8"/>
          </a:solidFill>
          <a:ln/>
          <a:effectLst>
            <a:outerShdw blurRad="63500" dist="25400" dir="5400000" algn="bl" rotWithShape="0">
              <a:srgbClr val="1B27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54233" y="5712595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854233" y="571259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40033" y="5511427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Constraint types used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40033" y="5895475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Disjoint, Overlapping, Total, Partial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· DIAGRAM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 Specializes into Student &amp; Employee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663440" y="1417320"/>
            <a:ext cx="274320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663440" y="1417320"/>
            <a:ext cx="2743200" cy="384048"/>
          </a:xfrm>
          <a:prstGeom prst="roundRect">
            <a:avLst>
              <a:gd name="adj" fmla="val 14286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663440" y="1709928"/>
            <a:ext cx="2743200" cy="914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663440" y="1417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73168" y="1856232"/>
            <a:ext cx="252374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SSN (key)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of Birth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35040" y="2560320"/>
            <a:ext cx="0" cy="182880"/>
          </a:xfrm>
          <a:prstGeom prst="line">
            <a:avLst/>
          </a:prstGeom>
          <a:noFill/>
          <a:ln w="381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5806440" y="269748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80644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 flipH="1">
            <a:off x="3291840" y="3154680"/>
            <a:ext cx="2743200" cy="274320"/>
          </a:xfrm>
          <a:prstGeom prst="line">
            <a:avLst/>
          </a:prstGeom>
          <a:noFill/>
          <a:ln w="22225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035040" y="3154680"/>
            <a:ext cx="2743200" cy="274320"/>
          </a:xfrm>
          <a:prstGeom prst="line">
            <a:avLst/>
          </a:prstGeom>
          <a:noFill/>
          <a:ln w="22225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1920240" y="3429000"/>
            <a:ext cx="27432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1920240" y="3429000"/>
            <a:ext cx="2743200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1920240" y="3721608"/>
            <a:ext cx="2743200" cy="914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1920240" y="34290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029968" y="3867912"/>
            <a:ext cx="252374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Date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406640" y="3429000"/>
            <a:ext cx="27432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7406640" y="3429000"/>
            <a:ext cx="2743200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7406640" y="3721608"/>
            <a:ext cx="2743200" cy="914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406640" y="34290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516368" y="3867912"/>
            <a:ext cx="252374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Date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806440" y="292608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d</a:t>
            </a: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9052560" y="146304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9235440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this diagram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235440" y="18745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→  disjoint: a Person is either a Student or an Employee, never both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line  →  total participation: every Person must fall into a subclass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and Employee inherit SSN, Name, Address, and Date of Birth from Person.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· DIAGRAM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Specializes into Undergraduate &amp; Graduate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663440" y="1417320"/>
            <a:ext cx="27432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663440" y="1417320"/>
            <a:ext cx="2743200" cy="384048"/>
          </a:xfrm>
          <a:prstGeom prst="roundRect">
            <a:avLst>
              <a:gd name="adj" fmla="val 14286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663440" y="1709928"/>
            <a:ext cx="2743200" cy="914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663440" y="1417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73168" y="1856232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35040" y="2331720"/>
            <a:ext cx="0" cy="274320"/>
          </a:xfrm>
          <a:prstGeom prst="line">
            <a:avLst/>
          </a:prstGeom>
          <a:noFill/>
          <a:ln w="381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5806440" y="256032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80644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 flipH="1">
            <a:off x="3291840" y="3017520"/>
            <a:ext cx="2743200" cy="274320"/>
          </a:xfrm>
          <a:prstGeom prst="line">
            <a:avLst/>
          </a:prstGeom>
          <a:noFill/>
          <a:ln w="22225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035040" y="3017520"/>
            <a:ext cx="2743200" cy="274320"/>
          </a:xfrm>
          <a:prstGeom prst="line">
            <a:avLst/>
          </a:prstGeom>
          <a:noFill/>
          <a:ln w="22225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1920240" y="3291840"/>
            <a:ext cx="27432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1920240" y="3291840"/>
            <a:ext cx="2743200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1920240" y="3584448"/>
            <a:ext cx="2743200" cy="914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1920240" y="32918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UNDERGRADUATE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029968" y="3730752"/>
            <a:ext cx="25237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Year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406640" y="3291840"/>
            <a:ext cx="27432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7406640" y="3291840"/>
            <a:ext cx="2743200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7406640" y="3584448"/>
            <a:ext cx="2743200" cy="914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406640" y="32918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GRADUATE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516368" y="3730752"/>
            <a:ext cx="25237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Title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920240" y="4709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Disjoint (d) + total participation: every Student must be classified as exactly one of Undergraduate or Graduate — never both, never neither.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052560" y="146304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9235440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Contrast with Diagram 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235440" y="18745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shape, different rules: here it's disjoint + total, not overlapping + partial.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2311841" y="2148840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kern="0" spc="100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DATA INDEPENDENCE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305755" y="306324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Logical &amp; Physical Independence in DBMS Architecture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1737360"/>
            <a:ext cx="0" cy="0"/>
          </a:xfrm>
          <a:prstGeom prst="line">
            <a:avLst/>
          </a:prstGeom>
          <a:noFill/>
          <a:ln w="12700">
            <a:solidFill>
              <a:srgbClr val="161C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1185855" y="63550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83ACA74-794A-BC7F-AECF-E0216E80CD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3896" y="350841"/>
            <a:ext cx="9527171" cy="105434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1481CBE-E066-5262-3C45-CE86D47451B9}"/>
              </a:ext>
            </a:extLst>
          </p:cNvPr>
          <p:cNvSpPr txBox="1"/>
          <p:nvPr/>
        </p:nvSpPr>
        <p:spPr>
          <a:xfrm>
            <a:off x="795528" y="3794760"/>
            <a:ext cx="57241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DARSHINIE KARANI.V.M</a:t>
            </a:r>
          </a:p>
          <a:p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REG.NO: 192520033</a:t>
            </a:r>
          </a:p>
          <a:p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COURSE: DATABASE MANAGEMENT SYSTEM</a:t>
            </a:r>
          </a:p>
          <a:p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CSA0504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Data Independence?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ability to modify a schema at one level without altering the schema at the next higher level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CADCFC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LEVEL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views / individual applications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971800" y="2907792"/>
            <a:ext cx="54864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↕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324612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8FA8E8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22960" y="33832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LEVEL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7490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structure — entities, relationships, constraints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971800" y="4279392"/>
            <a:ext cx="54864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↕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48640" y="461772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22960" y="47548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LEVEL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51206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storage — files, indexes, access paths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0" y="1874520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E8B84B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675120" y="202996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INDEPENDENCE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75120" y="2359152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3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between External ↔ Conceptual. Change the conceptual schema (e.g. add a table or attribute) without rewriting application programs.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0" y="3520440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675120" y="367588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INDEPENDENCE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75120" y="4005072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3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between Conceptual ↔ Internal. Change storage structures, file organization, or indexes without touching the conceptual schema.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by the ANSI-SPARC three-schema architecture (1975) to separate user needs, logical design, and physical storage.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1185855" y="63550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Logical vs. Physical Independence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forms of insulation between schema levels — different scope, different difficulty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5780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CE1F0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68680" y="2103120"/>
            <a:ext cx="457200" cy="457200"/>
          </a:xfrm>
          <a:prstGeom prst="ellipse">
            <a:avLst/>
          </a:prstGeom>
          <a:solidFill>
            <a:srgbClr val="8FA8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6868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210312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Independence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F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against: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14400" y="310896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3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to the conceptual (logical) schema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14400" y="3675888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F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change: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14400" y="3950208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3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new attribute or entity, splitting a table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4517136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F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shielded: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14400" y="4791456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3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programs and external user views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14400" y="5358384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F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Difficulty: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14400" y="5632704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3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Harder to achieve — apps directly reference logical structure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55080" y="1783080"/>
            <a:ext cx="525780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CE1F0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675120" y="21031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67512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269480" y="210312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Independence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720840" y="2834640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against: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720840" y="310896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3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to the internal (storage) schema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720840" y="3675888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change: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720840" y="3950208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3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file organization, adding/removing an index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720840" y="4517136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shielded: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720840" y="4791456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3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conceptual schema and, in turn, applications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720840" y="5358384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Difficulty: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720840" y="5632704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3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to achieve — most DBMS support this well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185855" y="63550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 in DBMS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Data independence is the backbone that makes modern database systems maintainable and scalable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611880" cy="1463040"/>
          </a:xfrm>
          <a:prstGeom prst="roundRect">
            <a:avLst>
              <a:gd name="adj" fmla="val 5000"/>
            </a:avLst>
          </a:prstGeom>
          <a:solidFill>
            <a:srgbClr val="1E2761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77240" y="203911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77240" y="244144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Maintenance Cost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770632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changes don't force a rewrite of every application program that touches the data.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416552" y="1874520"/>
            <a:ext cx="3611880" cy="1463040"/>
          </a:xfrm>
          <a:prstGeom prst="roundRect">
            <a:avLst>
              <a:gd name="adj" fmla="val 5000"/>
            </a:avLst>
          </a:prstGeom>
          <a:solidFill>
            <a:srgbClr val="1E2761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645152" y="203911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645152" y="244144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System Evolution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45152" y="2770632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requirements, tables, or storage strategies can be added without breaking existing users.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84464" y="1874520"/>
            <a:ext cx="3611880" cy="1463040"/>
          </a:xfrm>
          <a:prstGeom prst="roundRect">
            <a:avLst>
              <a:gd name="adj" fmla="val 5000"/>
            </a:avLst>
          </a:prstGeom>
          <a:solidFill>
            <a:srgbClr val="1E2761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513064" y="203911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513064" y="244144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Application Development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513064" y="2770632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work against a stable conceptual view instead of chasing storage details.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611880"/>
            <a:ext cx="3611880" cy="1463040"/>
          </a:xfrm>
          <a:prstGeom prst="roundRect">
            <a:avLst>
              <a:gd name="adj" fmla="val 5000"/>
            </a:avLst>
          </a:prstGeom>
          <a:solidFill>
            <a:srgbClr val="1E2761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77240" y="377647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77240" y="417880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Performance Tuning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4507992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DBAs can reorganize files, add indexes, or change access paths transparently.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416552" y="3611880"/>
            <a:ext cx="3611880" cy="1463040"/>
          </a:xfrm>
          <a:prstGeom prst="roundRect">
            <a:avLst>
              <a:gd name="adj" fmla="val 5000"/>
            </a:avLst>
          </a:prstGeom>
          <a:solidFill>
            <a:srgbClr val="1E2761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645152" y="377647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645152" y="417880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Multiple User Views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45152" y="4507992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external schemas coexist over one shared conceptual model.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284464" y="3611880"/>
            <a:ext cx="3611880" cy="1463040"/>
          </a:xfrm>
          <a:prstGeom prst="roundRect">
            <a:avLst>
              <a:gd name="adj" fmla="val 5000"/>
            </a:avLst>
          </a:prstGeom>
          <a:solidFill>
            <a:srgbClr val="1E2761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8513064" y="377647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8513064" y="417880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of Modern DBMS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513064" y="4507992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Underpins the ANSI-SPARC model that all relational database systems build on.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185855" y="63550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4"/>
          <p:cNvSpPr/>
          <p:nvPr/>
        </p:nvSpPr>
        <p:spPr>
          <a:xfrm>
            <a:off x="3098800" y="169164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 err="1"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r>
              <a:rPr lang="en-US" sz="32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 Management System</a:t>
            </a:r>
            <a:endParaRPr lang="en-US" sz="3200" dirty="0"/>
          </a:p>
        </p:txBody>
      </p:sp>
      <p:sp>
        <p:nvSpPr>
          <p:cNvPr id="9" name="Text 5"/>
          <p:cNvSpPr/>
          <p:nvPr/>
        </p:nvSpPr>
        <p:spPr>
          <a:xfrm>
            <a:off x="3169920" y="2639621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Query Processor  ·  Storage Manager  ·  Transaction Manager</a:t>
            </a:r>
            <a:endParaRPr lang="en-US" sz="18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28132BA-2884-90B9-3F60-9324490B84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3896" y="350841"/>
            <a:ext cx="9527171" cy="105434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3A14C4D-BADE-79E9-834F-E06803DC1845}"/>
              </a:ext>
            </a:extLst>
          </p:cNvPr>
          <p:cNvSpPr txBox="1"/>
          <p:nvPr/>
        </p:nvSpPr>
        <p:spPr>
          <a:xfrm>
            <a:off x="795528" y="3794760"/>
            <a:ext cx="57241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DARSHINIE KARANI.V.M</a:t>
            </a:r>
          </a:p>
          <a:p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REG.NO: 192520033</a:t>
            </a:r>
          </a:p>
          <a:p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COURSE: DATABASE MANAGEMENT SYSTEM</a:t>
            </a:r>
          </a:p>
          <a:p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CSA0504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Three-Layer Software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 query flows through the Query Processor, which relies on the Storage Manager to access data — while the Transaction Manager supervises both to keep results correct.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8288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49808" y="2331720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Application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2679192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submitted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395728" y="26289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880360" y="2148840"/>
            <a:ext cx="2514600" cy="1417320"/>
          </a:xfrm>
          <a:prstGeom prst="roundRect">
            <a:avLst>
              <a:gd name="adj" fmla="val 5806"/>
            </a:avLst>
          </a:prstGeom>
          <a:solidFill>
            <a:srgbClr val="065A82"/>
          </a:solidFill>
          <a:ln/>
          <a:effectLst>
            <a:outerShdw blurRad="76200" dist="25400" dir="5400000" algn="bl" rotWithShape="0">
              <a:srgbClr val="1A1A1A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108960" y="2350008"/>
            <a:ext cx="457200" cy="457200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0" descr="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688" y="2459736"/>
            <a:ext cx="237744" cy="23774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081528" y="2862072"/>
            <a:ext cx="2112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Processor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3081528" y="3172968"/>
            <a:ext cx="2112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Parses, optimizes, and plans execution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413248" y="26289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5943600" y="2148840"/>
            <a:ext cx="2514600" cy="1417320"/>
          </a:xfrm>
          <a:prstGeom prst="roundRect">
            <a:avLst>
              <a:gd name="adj" fmla="val 5806"/>
            </a:avLst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1A1A1A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6172200" y="2350008"/>
            <a:ext cx="457200" cy="457200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1" descr="hd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1928" y="2459736"/>
            <a:ext cx="237744" cy="23774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144768" y="2862072"/>
            <a:ext cx="2112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Manager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6144768" y="3172968"/>
            <a:ext cx="2112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and writes data on disk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8476488" y="26289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9006840" y="214884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8"/>
          <p:cNvSpPr/>
          <p:nvPr/>
        </p:nvSpPr>
        <p:spPr>
          <a:xfrm>
            <a:off x="9208008" y="2331720"/>
            <a:ext cx="2203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Database</a:t>
            </a:r>
            <a:endParaRPr lang="en-US" sz="1350" dirty="0"/>
          </a:p>
        </p:txBody>
      </p:sp>
      <p:sp>
        <p:nvSpPr>
          <p:cNvPr id="23" name="Text 19"/>
          <p:cNvSpPr/>
          <p:nvPr/>
        </p:nvSpPr>
        <p:spPr>
          <a:xfrm>
            <a:off x="9208008" y="2679192"/>
            <a:ext cx="2203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Files, indexes, and data on disk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2880360" y="3977640"/>
            <a:ext cx="5577840" cy="1005840"/>
          </a:xfrm>
          <a:prstGeom prst="roundRect">
            <a:avLst>
              <a:gd name="adj" fmla="val 8182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1"/>
          <p:cNvSpPr/>
          <p:nvPr/>
        </p:nvSpPr>
        <p:spPr>
          <a:xfrm>
            <a:off x="3127248" y="4251960"/>
            <a:ext cx="457200" cy="457200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2" descr="exch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6976" y="4361688"/>
            <a:ext cx="237744" cy="23774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3794760" y="412394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Manager</a:t>
            </a:r>
            <a:endParaRPr lang="en-US" sz="1350" dirty="0"/>
          </a:p>
        </p:txBody>
      </p:sp>
      <p:sp>
        <p:nvSpPr>
          <p:cNvPr id="28" name="Text 23"/>
          <p:cNvSpPr/>
          <p:nvPr/>
        </p:nvSpPr>
        <p:spPr>
          <a:xfrm>
            <a:off x="3794760" y="446227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Supervises the Query Processor and Storage Manager to guarantee ACID properties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4114800" y="3977640"/>
            <a:ext cx="0" cy="0"/>
          </a:xfrm>
          <a:prstGeom prst="line">
            <a:avLst/>
          </a:prstGeom>
          <a:noFill/>
          <a:ln w="19050">
            <a:solidFill>
              <a:srgbClr val="21295C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5"/>
          <p:cNvSpPr/>
          <p:nvPr/>
        </p:nvSpPr>
        <p:spPr>
          <a:xfrm>
            <a:off x="7223760" y="3977640"/>
            <a:ext cx="0" cy="0"/>
          </a:xfrm>
          <a:prstGeom prst="line">
            <a:avLst/>
          </a:prstGeom>
          <a:noFill/>
          <a:ln w="19050">
            <a:solidFill>
              <a:srgbClr val="21295C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6"/>
          <p:cNvSpPr/>
          <p:nvPr/>
        </p:nvSpPr>
        <p:spPr>
          <a:xfrm>
            <a:off x="548640" y="6080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these three components turn a declarative query into a correct, durable result — even under failures and concurrent access.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58368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Processor &amp; Storage Manager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FE4E8"/>
            </a:solidFill>
            <a:prstDash val="solid"/>
          </a:ln>
          <a:effectLst>
            <a:outerShdw blurRad="101600" dist="25400" dir="5400000" algn="bl" rotWithShape="0">
              <a:srgbClr val="1A1A1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2221992"/>
            <a:ext cx="5349240" cy="61264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22960" y="1892808"/>
            <a:ext cx="640080" cy="64008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2048256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185623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Processor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645920" y="22402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declarative SQL into an efficient execution plan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68680" y="3108960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1115568" y="3008376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&amp; DML compiler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115568" y="3282696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SQL and checks syntax and semantics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68680" y="3867912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1115568" y="3767328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optimizer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1115568" y="404164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Chooses the cheapest access path and join order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68680" y="4626864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1115568" y="4526280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engine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115568" y="480060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the chosen plan and returns results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68680" y="5385816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1115568" y="5285232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1115568" y="555955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response time and resource cost per query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263640" y="1600200"/>
            <a:ext cx="534924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FE4E8"/>
            </a:solidFill>
            <a:prstDash val="solid"/>
          </a:ln>
          <a:effectLst>
            <a:outerShdw blurRad="101600" dist="25400" dir="5400000" algn="bl" rotWithShape="0">
              <a:srgbClr val="1A1A1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1"/>
          <p:cNvSpPr/>
          <p:nvPr/>
        </p:nvSpPr>
        <p:spPr>
          <a:xfrm>
            <a:off x="6263640" y="160020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2"/>
          <p:cNvSpPr/>
          <p:nvPr/>
        </p:nvSpPr>
        <p:spPr>
          <a:xfrm>
            <a:off x="6263640" y="2221992"/>
            <a:ext cx="5349240" cy="61264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3"/>
          <p:cNvSpPr/>
          <p:nvPr/>
        </p:nvSpPr>
        <p:spPr>
          <a:xfrm>
            <a:off x="6537960" y="1892808"/>
            <a:ext cx="640080" cy="64008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1" descr="hd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08" y="2048256"/>
            <a:ext cx="329184" cy="329184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7360920" y="185623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Manager</a:t>
            </a:r>
            <a:endParaRPr lang="en-US" sz="1800" dirty="0"/>
          </a:p>
        </p:txBody>
      </p:sp>
      <p:sp>
        <p:nvSpPr>
          <p:cNvPr id="29" name="Text 25"/>
          <p:cNvSpPr/>
          <p:nvPr/>
        </p:nvSpPr>
        <p:spPr>
          <a:xfrm>
            <a:off x="7360920" y="22402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the query engine and the raw bytes on disk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6583680" y="310896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7"/>
          <p:cNvSpPr/>
          <p:nvPr/>
        </p:nvSpPr>
        <p:spPr>
          <a:xfrm>
            <a:off x="6830568" y="3008376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&amp; index manager</a:t>
            </a:r>
            <a:endParaRPr lang="en-US" sz="1250" dirty="0"/>
          </a:p>
        </p:txBody>
      </p:sp>
      <p:sp>
        <p:nvSpPr>
          <p:cNvPr id="32" name="Text 28"/>
          <p:cNvSpPr/>
          <p:nvPr/>
        </p:nvSpPr>
        <p:spPr>
          <a:xfrm>
            <a:off x="6830568" y="3282696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Organizes records, pages, and access structures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6583680" y="3867912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0"/>
          <p:cNvSpPr/>
          <p:nvPr/>
        </p:nvSpPr>
        <p:spPr>
          <a:xfrm>
            <a:off x="6830568" y="3767328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manager</a:t>
            </a:r>
            <a:endParaRPr lang="en-US" sz="1250" dirty="0"/>
          </a:p>
        </p:txBody>
      </p:sp>
      <p:sp>
        <p:nvSpPr>
          <p:cNvPr id="35" name="Text 31"/>
          <p:cNvSpPr/>
          <p:nvPr/>
        </p:nvSpPr>
        <p:spPr>
          <a:xfrm>
            <a:off x="6830568" y="404164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Caches disk pages in memory for fast reuse</a:t>
            </a:r>
            <a:endParaRPr lang="en-US" sz="1050" dirty="0"/>
          </a:p>
        </p:txBody>
      </p:sp>
      <p:sp>
        <p:nvSpPr>
          <p:cNvPr id="36" name="Shape 32"/>
          <p:cNvSpPr/>
          <p:nvPr/>
        </p:nvSpPr>
        <p:spPr>
          <a:xfrm>
            <a:off x="6583680" y="4626864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3"/>
          <p:cNvSpPr/>
          <p:nvPr/>
        </p:nvSpPr>
        <p:spPr>
          <a:xfrm>
            <a:off x="6830568" y="4526280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manager</a:t>
            </a:r>
            <a:endParaRPr lang="en-US" sz="1250" dirty="0"/>
          </a:p>
        </p:txBody>
      </p:sp>
      <p:sp>
        <p:nvSpPr>
          <p:cNvPr id="38" name="Text 34"/>
          <p:cNvSpPr/>
          <p:nvPr/>
        </p:nvSpPr>
        <p:spPr>
          <a:xfrm>
            <a:off x="6830568" y="480060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integrity constraints and access control</a:t>
            </a:r>
            <a:endParaRPr lang="en-US" sz="1050" dirty="0"/>
          </a:p>
        </p:txBody>
      </p:sp>
      <p:sp>
        <p:nvSpPr>
          <p:cNvPr id="39" name="Shape 35"/>
          <p:cNvSpPr/>
          <p:nvPr/>
        </p:nvSpPr>
        <p:spPr>
          <a:xfrm>
            <a:off x="6583680" y="5385816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6"/>
          <p:cNvSpPr/>
          <p:nvPr/>
        </p:nvSpPr>
        <p:spPr>
          <a:xfrm>
            <a:off x="6830568" y="5285232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250" dirty="0"/>
          </a:p>
        </p:txBody>
      </p:sp>
      <p:sp>
        <p:nvSpPr>
          <p:cNvPr id="41" name="Text 37"/>
          <p:cNvSpPr/>
          <p:nvPr/>
        </p:nvSpPr>
        <p:spPr>
          <a:xfrm>
            <a:off x="6830568" y="555955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Efficient, reliable storage and retrieval of data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58368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 Manager &amp; Why It Matters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280160" y="16184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Manager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280160" y="1965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every transaction behaves as one safe, indivisible unit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1371600" y="267004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control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1371600" y="296265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locking or timestamps so simultaneous transactions don't corrupt shared data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1371600" y="378561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manager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1371600" y="407822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logs to restore a consistent state after a crash or failure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1371600" y="490118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enforcement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1371600" y="519379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Atomicity, Consistency, Isolation, and Durability on every transaction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6446520" y="1600200"/>
            <a:ext cx="5166360" cy="4617720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18"/>
          <p:cNvSpPr/>
          <p:nvPr/>
        </p:nvSpPr>
        <p:spPr>
          <a:xfrm>
            <a:off x="6766560" y="1856232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Architecture Matters</a:t>
            </a:r>
            <a:endParaRPr lang="en-US" sz="1550" dirty="0"/>
          </a:p>
        </p:txBody>
      </p:sp>
      <p:sp>
        <p:nvSpPr>
          <p:cNvPr id="25" name="Shape 19"/>
          <p:cNvSpPr/>
          <p:nvPr/>
        </p:nvSpPr>
        <p:spPr>
          <a:xfrm>
            <a:off x="6766560" y="2450592"/>
            <a:ext cx="146304" cy="146304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0"/>
          <p:cNvSpPr/>
          <p:nvPr/>
        </p:nvSpPr>
        <p:spPr>
          <a:xfrm>
            <a:off x="7040880" y="2340864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concerns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7040880" y="2615184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component can be built, tested, and optimized independently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6766560" y="3346704"/>
            <a:ext cx="146304" cy="146304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3"/>
          <p:cNvSpPr/>
          <p:nvPr/>
        </p:nvSpPr>
        <p:spPr>
          <a:xfrm>
            <a:off x="7040880" y="3236976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7040880" y="3511296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optimizer and buffer manager work together to cut disk I/O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6766560" y="4242816"/>
            <a:ext cx="146304" cy="146304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6"/>
          <p:cNvSpPr/>
          <p:nvPr/>
        </p:nvSpPr>
        <p:spPr>
          <a:xfrm>
            <a:off x="7040880" y="413308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250" dirty="0"/>
          </a:p>
        </p:txBody>
      </p:sp>
      <p:sp>
        <p:nvSpPr>
          <p:cNvPr id="33" name="Text 27"/>
          <p:cNvSpPr/>
          <p:nvPr/>
        </p:nvSpPr>
        <p:spPr>
          <a:xfrm>
            <a:off x="7040880" y="4407408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transaction manager keeps data correct despite crashes or concurrent users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6766560" y="5138928"/>
            <a:ext cx="146304" cy="146304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29"/>
          <p:cNvSpPr/>
          <p:nvPr/>
        </p:nvSpPr>
        <p:spPr>
          <a:xfrm>
            <a:off x="7040880" y="5029200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Extensibility</a:t>
            </a:r>
            <a:endParaRPr lang="en-US" sz="1250" dirty="0"/>
          </a:p>
        </p:txBody>
      </p:sp>
      <p:sp>
        <p:nvSpPr>
          <p:cNvPr id="36" name="Text 30"/>
          <p:cNvSpPr/>
          <p:nvPr/>
        </p:nvSpPr>
        <p:spPr>
          <a:xfrm>
            <a:off x="7040880" y="530352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storage engines or optimizers can be swapped in without rewriting the whole DBMS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811570" y="205740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Strong vs. Weak Entities</a:t>
            </a:r>
            <a:endParaRPr lang="en-US" sz="4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01B4C0-D958-60D0-084F-0A1BFD27E46A}"/>
              </a:ext>
            </a:extLst>
          </p:cNvPr>
          <p:cNvSpPr txBox="1"/>
          <p:nvPr/>
        </p:nvSpPr>
        <p:spPr>
          <a:xfrm>
            <a:off x="795528" y="3794760"/>
            <a:ext cx="57241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DARSHINIE KARANI.V.M</a:t>
            </a:r>
          </a:p>
          <a:p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REG.NO: 192520033</a:t>
            </a:r>
          </a:p>
          <a:p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COURSE: DATABASE MANAGEMENT SYSTEM</a:t>
            </a:r>
          </a:p>
          <a:p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CSA0504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9CD9B21-A702-A00F-F15E-7890AE9BD8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4837" y="469526"/>
            <a:ext cx="9527171" cy="10543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Entity, Again?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2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an Entity–Relationship (ER) diagram, an entity is any real-world object or concept a database needs to store data about — a person, place, event, or thing.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255117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286207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distinct object: Student, Order, Hospital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56616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4864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7280" y="351129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382219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property of that object: Name, Date, Price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526280"/>
            <a:ext cx="384048" cy="384048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48640" y="4526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97280" y="447141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478231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attribute (or set) that uniquely identifies each instance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867144" y="1188720"/>
            <a:ext cx="4937760" cy="5120640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7223760" y="1691640"/>
            <a:ext cx="18288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086600" y="16916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A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692640" y="1691640"/>
            <a:ext cx="1828800" cy="685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9692640" y="16916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B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686800" y="2862072"/>
            <a:ext cx="1554480" cy="822960"/>
          </a:xfrm>
          <a:prstGeom prst="diamond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8732520" y="2852928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relates to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156448" y="2377440"/>
            <a:ext cx="576072" cy="868680"/>
          </a:xfrm>
          <a:prstGeom prst="line">
            <a:avLst/>
          </a:prstGeom>
          <a:noFill/>
          <a:ln w="19050">
            <a:solidFill>
              <a:srgbClr val="AAB2BD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6" name="Shape 24"/>
          <p:cNvSpPr/>
          <p:nvPr/>
        </p:nvSpPr>
        <p:spPr>
          <a:xfrm flipV="1">
            <a:off x="10241280" y="2377440"/>
            <a:ext cx="365760" cy="868680"/>
          </a:xfrm>
          <a:prstGeom prst="line">
            <a:avLst/>
          </a:prstGeom>
          <a:noFill/>
          <a:ln w="19050">
            <a:solidFill>
              <a:srgbClr val="AAB2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7086600" y="3931920"/>
            <a:ext cx="44348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7315200" y="4114800"/>
            <a:ext cx="4023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2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entities above are independent — each has its own primary key and can exist without the other. That's the baseline case. Not every entity gets that luxury, though.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Entities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394960" cy="363016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68680" y="15544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 entity has its own primary key and exists independently of any other entity.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2697480"/>
            <a:ext cx="109728" cy="109728"/>
          </a:xfrm>
          <a:prstGeom prst="ellipse">
            <a:avLst/>
          </a:prstGeom>
          <a:solidFill>
            <a:srgbClr val="9FD3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143000" y="257860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A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Uniquely identified by its own attribute(s)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68680" y="3227832"/>
            <a:ext cx="109728" cy="109728"/>
          </a:xfrm>
          <a:prstGeom prst="ellipse">
            <a:avLst/>
          </a:prstGeom>
          <a:solidFill>
            <a:srgbClr val="9FD3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143000" y="310896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A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Drawn as a single-outline rectangle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68680" y="3758184"/>
            <a:ext cx="109728" cy="109728"/>
          </a:xfrm>
          <a:prstGeom prst="ellipse">
            <a:avLst/>
          </a:prstGeom>
          <a:solidFill>
            <a:srgbClr val="9FD3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143000" y="363931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A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Deleting it doesn't require deleting anything else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" y="4288536"/>
            <a:ext cx="109728" cy="109728"/>
          </a:xfrm>
          <a:prstGeom prst="ellipse">
            <a:avLst/>
          </a:prstGeom>
          <a:solidFill>
            <a:srgbClr val="9FD3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143000" y="4169664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A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the “hub” entities in a schema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26364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view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75120" y="1828800"/>
            <a:ext cx="237744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675120" y="18288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418320" y="1417320"/>
            <a:ext cx="1920240" cy="800100"/>
          </a:xfrm>
          <a:prstGeom prst="ellipse">
            <a:avLst/>
          </a:prstGeom>
          <a:solidFill>
            <a:srgbClr val="F6F8FA"/>
          </a:solidFill>
          <a:ln w="1270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9418320" y="1417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StudentID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646920" y="1810512"/>
            <a:ext cx="1463040" cy="914"/>
          </a:xfrm>
          <a:prstGeom prst="line">
            <a:avLst/>
          </a:prstGeom>
          <a:noFill/>
          <a:ln w="1905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9418320" y="18470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(primary key — underlined)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 flipV="1">
            <a:off x="9052560" y="1856232"/>
            <a:ext cx="365760" cy="361188"/>
          </a:xfrm>
          <a:prstGeom prst="line">
            <a:avLst/>
          </a:prstGeom>
          <a:noFill/>
          <a:ln w="19050">
            <a:solidFill>
              <a:srgbClr val="AAB2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263640" y="2926080"/>
            <a:ext cx="5349240" cy="3246120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53796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examples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537960" y="3520440"/>
            <a:ext cx="155448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537960" y="35204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0" y="35935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by Student ID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537960" y="4178808"/>
            <a:ext cx="155448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537960" y="417880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29600" y="4251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by Stock Keeper Unit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537960" y="4837176"/>
            <a:ext cx="155448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537960" y="483717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229600" y="49103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by Hospital ID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537960" y="5495544"/>
            <a:ext cx="155448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537960" y="549554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229600" y="556869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by Gene ID / accession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" name="Shape 3"/>
          <p:cNvSpPr/>
          <p:nvPr/>
        </p:nvSpPr>
        <p:spPr>
          <a:xfrm>
            <a:off x="548640" y="5315550"/>
            <a:ext cx="5394960" cy="4572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4"/>
          <p:cNvSpPr/>
          <p:nvPr/>
        </p:nvSpPr>
        <p:spPr>
          <a:xfrm>
            <a:off x="548640" y="5315550"/>
            <a:ext cx="13487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EmployeeID</a:t>
            </a:r>
            <a:endParaRPr lang="en-US" sz="1050" dirty="0"/>
          </a:p>
        </p:txBody>
      </p:sp>
      <p:sp>
        <p:nvSpPr>
          <p:cNvPr id="38" name="Text 5"/>
          <p:cNvSpPr/>
          <p:nvPr/>
        </p:nvSpPr>
        <p:spPr>
          <a:xfrm>
            <a:off x="1897380" y="5315550"/>
            <a:ext cx="13487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50" dirty="0"/>
          </a:p>
        </p:txBody>
      </p:sp>
      <p:sp>
        <p:nvSpPr>
          <p:cNvPr id="39" name="Text 6"/>
          <p:cNvSpPr/>
          <p:nvPr/>
        </p:nvSpPr>
        <p:spPr>
          <a:xfrm>
            <a:off x="3246120" y="5315550"/>
            <a:ext cx="13487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050" dirty="0"/>
          </a:p>
        </p:txBody>
      </p:sp>
      <p:sp>
        <p:nvSpPr>
          <p:cNvPr id="40" name="Text 7"/>
          <p:cNvSpPr/>
          <p:nvPr/>
        </p:nvSpPr>
        <p:spPr>
          <a:xfrm>
            <a:off x="4594860" y="5315550"/>
            <a:ext cx="13487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HireDate</a:t>
            </a:r>
            <a:endParaRPr lang="en-US" sz="1050" dirty="0"/>
          </a:p>
        </p:txBody>
      </p:sp>
      <p:sp>
        <p:nvSpPr>
          <p:cNvPr id="41" name="Shape 8"/>
          <p:cNvSpPr/>
          <p:nvPr/>
        </p:nvSpPr>
        <p:spPr>
          <a:xfrm>
            <a:off x="548640" y="5772750"/>
            <a:ext cx="539496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9"/>
          <p:cNvSpPr/>
          <p:nvPr/>
        </p:nvSpPr>
        <p:spPr>
          <a:xfrm>
            <a:off x="548640" y="5772750"/>
            <a:ext cx="134874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E1042</a:t>
            </a:r>
            <a:endParaRPr lang="en-US" sz="1000" dirty="0"/>
          </a:p>
        </p:txBody>
      </p:sp>
      <p:sp>
        <p:nvSpPr>
          <p:cNvPr id="43" name="Text 10"/>
          <p:cNvSpPr/>
          <p:nvPr/>
        </p:nvSpPr>
        <p:spPr>
          <a:xfrm>
            <a:off x="1897380" y="5772750"/>
            <a:ext cx="134874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Kannan</a:t>
            </a:r>
            <a:endParaRPr lang="en-US" sz="1000" dirty="0"/>
          </a:p>
        </p:txBody>
      </p:sp>
      <p:sp>
        <p:nvSpPr>
          <p:cNvPr id="44" name="Text 11"/>
          <p:cNvSpPr/>
          <p:nvPr/>
        </p:nvSpPr>
        <p:spPr>
          <a:xfrm>
            <a:off x="3246120" y="5772750"/>
            <a:ext cx="134874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Genomics Lab</a:t>
            </a:r>
            <a:endParaRPr lang="en-US" sz="1000" dirty="0"/>
          </a:p>
        </p:txBody>
      </p:sp>
      <p:sp>
        <p:nvSpPr>
          <p:cNvPr id="45" name="Text 12"/>
          <p:cNvSpPr/>
          <p:nvPr/>
        </p:nvSpPr>
        <p:spPr>
          <a:xfrm>
            <a:off x="4594860" y="5772750"/>
            <a:ext cx="134874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2022-03-11</a:t>
            </a:r>
            <a:endParaRPr lang="en-US" sz="1000" dirty="0"/>
          </a:p>
        </p:txBody>
      </p:sp>
      <p:sp>
        <p:nvSpPr>
          <p:cNvPr id="46" name="Shape 13"/>
          <p:cNvSpPr/>
          <p:nvPr/>
        </p:nvSpPr>
        <p:spPr>
          <a:xfrm>
            <a:off x="548640" y="6184230"/>
            <a:ext cx="5394960" cy="411480"/>
          </a:xfrm>
          <a:prstGeom prst="rect">
            <a:avLst/>
          </a:prstGeom>
          <a:solidFill>
            <a:srgbClr val="F6F8FA"/>
          </a:solidFill>
          <a:ln w="9525">
            <a:solidFill>
              <a:srgbClr val="E1E6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14"/>
          <p:cNvSpPr/>
          <p:nvPr/>
        </p:nvSpPr>
        <p:spPr>
          <a:xfrm>
            <a:off x="548640" y="6184230"/>
            <a:ext cx="134874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E1043</a:t>
            </a:r>
            <a:endParaRPr lang="en-US" sz="1000" dirty="0"/>
          </a:p>
        </p:txBody>
      </p:sp>
      <p:sp>
        <p:nvSpPr>
          <p:cNvPr id="48" name="Text 15"/>
          <p:cNvSpPr/>
          <p:nvPr/>
        </p:nvSpPr>
        <p:spPr>
          <a:xfrm>
            <a:off x="1897380" y="6184230"/>
            <a:ext cx="134874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Iyer</a:t>
            </a:r>
            <a:endParaRPr lang="en-US" sz="1000" dirty="0"/>
          </a:p>
        </p:txBody>
      </p:sp>
      <p:sp>
        <p:nvSpPr>
          <p:cNvPr id="49" name="Text 16"/>
          <p:cNvSpPr/>
          <p:nvPr/>
        </p:nvSpPr>
        <p:spPr>
          <a:xfrm>
            <a:off x="3246120" y="6184230"/>
            <a:ext cx="134874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Systems</a:t>
            </a:r>
            <a:endParaRPr lang="en-US" sz="1000" dirty="0"/>
          </a:p>
        </p:txBody>
      </p:sp>
      <p:sp>
        <p:nvSpPr>
          <p:cNvPr id="50" name="Text 17"/>
          <p:cNvSpPr/>
          <p:nvPr/>
        </p:nvSpPr>
        <p:spPr>
          <a:xfrm>
            <a:off x="4594860" y="6184230"/>
            <a:ext cx="134874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2023-07-01</a:t>
            </a:r>
            <a:endParaRPr lang="en-US" sz="10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921F441-F956-1FA8-A4C2-329F6E32AE14}"/>
              </a:ext>
            </a:extLst>
          </p:cNvPr>
          <p:cNvSpPr txBox="1"/>
          <p:nvPr/>
        </p:nvSpPr>
        <p:spPr>
          <a:xfrm>
            <a:off x="385011" y="4957011"/>
            <a:ext cx="1512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 Entities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394960" cy="3538728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68680" y="155448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weak entity has no primary key of its own — it can only be identified through its relationship to an “owner” strong entity.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2834640"/>
            <a:ext cx="109728" cy="109728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143000" y="271576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only a partial key, which is unique only within its owner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68680" y="3383280"/>
            <a:ext cx="109728" cy="109728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143000" y="326440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Drawn as a double-outline rectangle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68680" y="3931920"/>
            <a:ext cx="109728" cy="109728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143000" y="381304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to its owner via an identifying relationship (double diamond)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" y="4480560"/>
            <a:ext cx="109728" cy="109728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143000" y="436168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Deleting the owner deletes the weak entity too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26364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view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20256" y="1911096"/>
            <a:ext cx="1938528" cy="841248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675120" y="1965960"/>
            <a:ext cx="1828800" cy="73152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12700"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675120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700516" y="1888236"/>
            <a:ext cx="1527048" cy="886968"/>
          </a:xfrm>
          <a:prstGeom prst="diamond">
            <a:avLst/>
          </a:prstGeom>
          <a:solidFill>
            <a:srgbClr val="FFFFFF"/>
          </a:solidFill>
          <a:ln w="25400"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8755380" y="1943100"/>
            <a:ext cx="1417320" cy="777240"/>
          </a:xfrm>
          <a:prstGeom prst="diamond">
            <a:avLst/>
          </a:prstGeom>
          <a:solidFill>
            <a:schemeClr val="tx2">
              <a:lumMod val="50000"/>
              <a:lumOff val="50000"/>
            </a:schemeClr>
          </a:solidFill>
          <a:ln w="12700"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8755380" y="19431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0424160" y="1953934"/>
            <a:ext cx="1554480" cy="68580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12700"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10424160" y="1953931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503920" y="2331720"/>
            <a:ext cx="274320" cy="9144"/>
          </a:xfrm>
          <a:prstGeom prst="line">
            <a:avLst/>
          </a:prstGeom>
          <a:noFill/>
          <a:ln w="19050">
            <a:solidFill>
              <a:srgbClr val="AAB2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10227564" y="2331720"/>
            <a:ext cx="196596" cy="9144"/>
          </a:xfrm>
          <a:prstGeom prst="line">
            <a:avLst/>
          </a:prstGeom>
          <a:noFill/>
          <a:ln w="19050">
            <a:solidFill>
              <a:srgbClr val="AAB2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6263640" y="3063240"/>
            <a:ext cx="5349240" cy="3108960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537960" y="3246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diagram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37960" y="3611880"/>
            <a:ext cx="4892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2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DEPENDENT's double border shows it can't be identified alone. The double diamond “has” is the identifying relationship — without an EMPLOYEE on the other end, a DEPENDENT record has no meaning. Its real key is (EmployeeID + DependentName).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" name="Shape 16"/>
          <p:cNvSpPr/>
          <p:nvPr/>
        </p:nvSpPr>
        <p:spPr>
          <a:xfrm>
            <a:off x="548640" y="4898454"/>
            <a:ext cx="5394960" cy="1849818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7"/>
          <p:cNvSpPr/>
          <p:nvPr/>
        </p:nvSpPr>
        <p:spPr>
          <a:xfrm>
            <a:off x="777240" y="508133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weak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777240" y="5447094"/>
            <a:ext cx="201168" cy="201168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19"/>
          <p:cNvSpPr/>
          <p:nvPr/>
        </p:nvSpPr>
        <p:spPr>
          <a:xfrm>
            <a:off x="777240" y="5447094"/>
            <a:ext cx="201168" cy="201168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2" name="Text 20"/>
          <p:cNvSpPr/>
          <p:nvPr/>
        </p:nvSpPr>
        <p:spPr>
          <a:xfrm>
            <a:off x="1097280" y="540137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RoomNo alone can't identify a row uniquely</a:t>
            </a:r>
            <a:endParaRPr lang="en-US" sz="1150" dirty="0"/>
          </a:p>
        </p:txBody>
      </p:sp>
      <p:sp>
        <p:nvSpPr>
          <p:cNvPr id="33" name="Shape 21"/>
          <p:cNvSpPr/>
          <p:nvPr/>
        </p:nvSpPr>
        <p:spPr>
          <a:xfrm>
            <a:off x="777240" y="5904294"/>
            <a:ext cx="201168" cy="201168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22"/>
          <p:cNvSpPr/>
          <p:nvPr/>
        </p:nvSpPr>
        <p:spPr>
          <a:xfrm>
            <a:off x="777240" y="5904294"/>
            <a:ext cx="201168" cy="201168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5" name="Text 23"/>
          <p:cNvSpPr/>
          <p:nvPr/>
        </p:nvSpPr>
        <p:spPr>
          <a:xfrm>
            <a:off x="1097280" y="585857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real key = BuildingID + RoomNo</a:t>
            </a:r>
            <a:endParaRPr lang="en-US" sz="1150" dirty="0"/>
          </a:p>
        </p:txBody>
      </p:sp>
      <p:sp>
        <p:nvSpPr>
          <p:cNvPr id="36" name="Shape 24"/>
          <p:cNvSpPr/>
          <p:nvPr/>
        </p:nvSpPr>
        <p:spPr>
          <a:xfrm>
            <a:off x="777240" y="6361494"/>
            <a:ext cx="201168" cy="201168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25"/>
          <p:cNvSpPr/>
          <p:nvPr/>
        </p:nvSpPr>
        <p:spPr>
          <a:xfrm>
            <a:off x="777240" y="6361494"/>
            <a:ext cx="201168" cy="201168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8" name="Text 26"/>
          <p:cNvSpPr/>
          <p:nvPr/>
        </p:nvSpPr>
        <p:spPr>
          <a:xfrm>
            <a:off x="1097280" y="631577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BUILDING is demolished, its ROOMs go with it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C2893EA-EC3B-83B0-7500-C3C95A7124F0}"/>
              </a:ext>
            </a:extLst>
          </p:cNvPr>
          <p:cNvSpPr txBox="1"/>
          <p:nvPr/>
        </p:nvSpPr>
        <p:spPr>
          <a:xfrm>
            <a:off x="444500" y="2692400"/>
            <a:ext cx="66294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6" name="Star: 4 Points 5">
            <a:extLst>
              <a:ext uri="{FF2B5EF4-FFF2-40B4-BE49-F238E27FC236}">
                <a16:creationId xmlns:a16="http://schemas.microsoft.com/office/drawing/2014/main" id="{85D39F3E-121A-741E-D38E-728A0CEE4199}"/>
              </a:ext>
            </a:extLst>
          </p:cNvPr>
          <p:cNvSpPr/>
          <p:nvPr/>
        </p:nvSpPr>
        <p:spPr>
          <a:xfrm>
            <a:off x="10617200" y="-349250"/>
            <a:ext cx="1854200" cy="1765300"/>
          </a:xfrm>
          <a:prstGeom prst="star4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Star: 4 Points 6">
            <a:extLst>
              <a:ext uri="{FF2B5EF4-FFF2-40B4-BE49-F238E27FC236}">
                <a16:creationId xmlns:a16="http://schemas.microsoft.com/office/drawing/2014/main" id="{FEC97A00-5361-4FC6-42CE-95CB6058A46C}"/>
              </a:ext>
            </a:extLst>
          </p:cNvPr>
          <p:cNvSpPr/>
          <p:nvPr/>
        </p:nvSpPr>
        <p:spPr>
          <a:xfrm>
            <a:off x="11150600" y="1765300"/>
            <a:ext cx="1041400" cy="1238250"/>
          </a:xfrm>
          <a:prstGeom prst="star4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Star: 4 Points 7">
            <a:extLst>
              <a:ext uri="{FF2B5EF4-FFF2-40B4-BE49-F238E27FC236}">
                <a16:creationId xmlns:a16="http://schemas.microsoft.com/office/drawing/2014/main" id="{C425BEC8-40F7-37F0-2853-44C0666FF164}"/>
              </a:ext>
            </a:extLst>
          </p:cNvPr>
          <p:cNvSpPr/>
          <p:nvPr/>
        </p:nvSpPr>
        <p:spPr>
          <a:xfrm>
            <a:off x="9226550" y="495300"/>
            <a:ext cx="1530350" cy="1371600"/>
          </a:xfrm>
          <a:prstGeom prst="star4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0215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547</TotalTime>
  <Words>2138</Words>
  <Application>Microsoft Office PowerPoint</Application>
  <PresentationFormat>Widescreen</PresentationFormat>
  <Paragraphs>397</Paragraphs>
  <Slides>26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Aptos</vt:lpstr>
      <vt:lpstr>Aptos Display</vt:lpstr>
      <vt:lpstr>Arial</vt:lpstr>
      <vt:lpstr>Calibri</vt:lpstr>
      <vt:lpstr>Cambria</vt:lpstr>
      <vt:lpstr>Copperplate Gothic Bold</vt:lpstr>
      <vt:lpstr>Times New Roman</vt:lpstr>
      <vt:lpstr>Office Theme</vt:lpstr>
      <vt:lpstr>CO1_AT3_TECHNICAL PRESENTATION ER Diagram for an Online Library Management System</vt:lpstr>
      <vt:lpstr>introduction</vt:lpstr>
      <vt:lpstr>Entities overview</vt:lpstr>
      <vt:lpstr>Relationships &amp; Cardinality</vt:lpstr>
      <vt:lpstr>Relationships Between Entities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Darshinie Karani</dc:creator>
  <cp:lastModifiedBy>Darshinie Karani</cp:lastModifiedBy>
  <cp:revision>4</cp:revision>
  <dcterms:created xsi:type="dcterms:W3CDTF">2026-07-19T06:59:55Z</dcterms:created>
  <dcterms:modified xsi:type="dcterms:W3CDTF">2026-07-23T04:29:05Z</dcterms:modified>
</cp:coreProperties>
</file>